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8" r:id="rId6"/>
    <p:sldId id="260" r:id="rId7"/>
    <p:sldId id="269" r:id="rId8"/>
    <p:sldId id="270" r:id="rId9"/>
    <p:sldId id="271" r:id="rId10"/>
    <p:sldId id="261" r:id="rId11"/>
    <p:sldId id="262" r:id="rId12"/>
    <p:sldId id="263" r:id="rId13"/>
    <p:sldId id="264" r:id="rId14"/>
    <p:sldId id="265" r:id="rId15"/>
    <p:sldId id="266" r:id="rId16"/>
    <p:sldId id="267"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967" autoAdjust="0"/>
  </p:normalViewPr>
  <p:slideViewPr>
    <p:cSldViewPr snapToGrid="0">
      <p:cViewPr varScale="1">
        <p:scale>
          <a:sx n="70" d="100"/>
          <a:sy n="70" d="100"/>
        </p:scale>
        <p:origin x="113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Closing slide. Add the Google Form URL and a contact email before sharing. Edition 2 </a:t>
            </a:r>
            <a:r>
              <a:rPr lang="en-US" dirty="0" err="1"/>
              <a:t>organising</a:t>
            </a:r>
            <a:r>
              <a:rPr lang="en-US" dirty="0"/>
              <a:t> team for reference: Language AI - Sourabh Tiwari, Gaurav, Sanjeeth </a:t>
            </a:r>
            <a:r>
              <a:rPr lang="en-US" dirty="0" err="1"/>
              <a:t>Pothireddy</a:t>
            </a:r>
            <a:r>
              <a:rPr lang="en-US" dirty="0"/>
              <a:t>, </a:t>
            </a:r>
            <a:r>
              <a:rPr lang="en-US" dirty="0" err="1"/>
              <a:t>Gorang</a:t>
            </a:r>
            <a:r>
              <a:rPr lang="en-US" dirty="0"/>
              <a:t> Maniar; PRISM - Binny Lakra, Prakhar </a:t>
            </a:r>
            <a:r>
              <a:rPr lang="en-US" dirty="0" err="1"/>
              <a:t>Chandrakar</a:t>
            </a:r>
            <a:r>
              <a:rPr lang="en-US" dirty="0"/>
              <a:t>, Vishu Kumar; Kick-off and mentors - Giridhar Jakki, </a:t>
            </a:r>
            <a:r>
              <a:rPr lang="en-US" dirty="0" err="1"/>
              <a:t>Deepraj</a:t>
            </a:r>
            <a:r>
              <a:rPr lang="en-US" dirty="0"/>
              <a:t> Prabhakar Patkar (Language AI), </a:t>
            </a:r>
            <a:r>
              <a:rPr lang="en-US" dirty="0" err="1"/>
              <a:t>Srimanu</a:t>
            </a:r>
            <a:r>
              <a:rPr lang="en-US" dirty="0"/>
              <a:t> Prasad Nagaraju, Ashish Kumar (Tech Strategy).</a:t>
            </a:r>
            <a:endParaRPr dirty="0"/>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mailto:pa6535@srmist.edu.in" TargetMode="External"/><Relationship Id="rId7" Type="http://schemas.openxmlformats.org/officeDocument/2006/relationships/hyperlink" Target="https://github.com/IneshAg/SRMIST_Puchkaz_Prism_GenA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vv2394@srmist.edu.in" TargetMode="External"/><Relationship Id="rId5" Type="http://schemas.openxmlformats.org/officeDocument/2006/relationships/hyperlink" Target="mailto:ia6861@srmist.edu.in" TargetMode="External"/><Relationship Id="rId4" Type="http://schemas.openxmlformats.org/officeDocument/2006/relationships/hyperlink" Target="mailto:dg5502@srmist.edu.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_ooCOpjRS2G8lOtwKyPkBSGQNYcRL5gH/view?usp=shari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mailto:pa6535@srmist.edu.in"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docs.google.com/forms/d/e/1FAIpQLSd_WWF7mnEVUWV3eC-Ptc2PKeJ5Mt_422EknsfShKo_l1y3Og/viewform?edit2=2_ABaOnuenWDHxGAclXChZSHLoFlyEr9ohm8_h64DtXlPx3xwWv59VGoTGP7rUkO6eeZiLAV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429001"/>
            <a:ext cx="7147560" cy="777240"/>
          </a:xfrm>
          <a:prstGeom prst="rect">
            <a:avLst/>
          </a:prstGeom>
          <a:noFill/>
          <a:ln>
            <a:noFill/>
          </a:ln>
        </p:spPr>
        <p:txBody>
          <a:bodyPr spcFirstLastPara="1" wrap="square" lIns="0" tIns="0" rIns="0" bIns="0" anchor="t" anchorCtr="0">
            <a:noAutofit/>
          </a:bodyPr>
          <a:lstStyle/>
          <a:p>
            <a:pPr lvl="0"/>
            <a:r>
              <a:rPr lang="en-IN" sz="1600" dirty="0"/>
              <a:t>Theme ID - 02 – Smart Guided Troubleshooting Engine</a:t>
            </a:r>
          </a:p>
          <a:p>
            <a:pPr lvl="0"/>
            <a:r>
              <a:rPr lang="en-IN" sz="1600" dirty="0"/>
              <a:t>Team Name – </a:t>
            </a:r>
            <a:r>
              <a:rPr lang="en-IN" sz="1600" dirty="0" err="1"/>
              <a:t>SRMIST_Puchkaz</a:t>
            </a:r>
            <a:endParaRPr lang="en-IN" sz="1600" dirty="0"/>
          </a:p>
          <a:p>
            <a:pPr lvl="0"/>
            <a:r>
              <a:rPr lang="en-IN" sz="1600" dirty="0"/>
              <a:t>College Name – SRMIST, KTR</a:t>
            </a:r>
          </a:p>
          <a:p>
            <a:pPr lvl="0"/>
            <a:endParaRPr lang="en-IN" sz="1600" dirty="0"/>
          </a:p>
          <a:p>
            <a:pPr lvl="0"/>
            <a:r>
              <a:rPr lang="en-IN" sz="1600" dirty="0"/>
              <a:t>Member Name &amp; Email 1- PRISHA AGARWAL – </a:t>
            </a:r>
            <a:r>
              <a:rPr lang="en-IN" sz="1600" dirty="0">
                <a:hlinkClick r:id="rId3"/>
              </a:rPr>
              <a:t>pa6535@srmist.edu.in</a:t>
            </a:r>
            <a:r>
              <a:rPr lang="en-IN" sz="1600" dirty="0"/>
              <a:t> </a:t>
            </a:r>
          </a:p>
          <a:p>
            <a:pPr lvl="0"/>
            <a:r>
              <a:rPr lang="en-IN" sz="1600" dirty="0"/>
              <a:t>Member Name &amp; Email 2- DAKSH GUPTA - </a:t>
            </a:r>
            <a:r>
              <a:rPr lang="en-IN" sz="1600" dirty="0">
                <a:hlinkClick r:id="rId4"/>
              </a:rPr>
              <a:t>dg5502@srmist.edu.in</a:t>
            </a:r>
            <a:r>
              <a:rPr lang="en-IN" sz="1600" dirty="0"/>
              <a:t> </a:t>
            </a:r>
          </a:p>
          <a:p>
            <a:pPr lvl="0"/>
            <a:r>
              <a:rPr lang="en-IN" sz="1600" dirty="0"/>
              <a:t>Member Name &amp; Email 3- INESH AGARWAL - </a:t>
            </a:r>
            <a:r>
              <a:rPr lang="en-IN" sz="1600" dirty="0">
                <a:hlinkClick r:id="rId5"/>
              </a:rPr>
              <a:t>ia6861@srmist.edu.in</a:t>
            </a:r>
            <a:r>
              <a:rPr lang="en-IN" sz="1600" dirty="0"/>
              <a:t> </a:t>
            </a:r>
          </a:p>
          <a:p>
            <a:pPr lvl="0"/>
            <a:r>
              <a:rPr lang="en-IN" sz="1600" dirty="0"/>
              <a:t>Member Name &amp; Email 4- V DHRUV - </a:t>
            </a:r>
            <a:r>
              <a:rPr lang="en-IN" sz="1600" dirty="0">
                <a:hlinkClick r:id="rId6"/>
              </a:rPr>
              <a:t>vv2394@srmist.edu.in</a:t>
            </a:r>
            <a:r>
              <a:rPr lang="en-IN" sz="1600" dirty="0"/>
              <a:t> </a:t>
            </a:r>
          </a:p>
          <a:p>
            <a:pPr lvl="0"/>
            <a:endParaRPr lang="en-IN" sz="1600" dirty="0"/>
          </a:p>
          <a:p>
            <a:pPr lvl="0"/>
            <a:r>
              <a:rPr lang="en-IN" sz="1600" dirty="0"/>
              <a:t>Submission </a:t>
            </a:r>
            <a:r>
              <a:rPr lang="en-IN" sz="1600" dirty="0" err="1"/>
              <a:t>Github</a:t>
            </a:r>
            <a:r>
              <a:rPr lang="en-IN" sz="1600" dirty="0"/>
              <a:t> link - </a:t>
            </a:r>
            <a:r>
              <a:rPr lang="en-IN" sz="1600" dirty="0">
                <a:hlinkClick r:id="rId7"/>
              </a:rPr>
              <a:t>https://github.com/IneshAg/SRMIST_Puchkaz_Prism_GenAI</a:t>
            </a:r>
            <a:endParaRPr lang="en-IN" sz="1600" dirty="0"/>
          </a:p>
        </p:txBody>
      </p:sp>
      <p:pic>
        <p:nvPicPr>
          <p:cNvPr id="96" name="Google Shape;96;p1" descr="hero_network.png"/>
          <p:cNvPicPr preferRelativeResize="0"/>
          <p:nvPr/>
        </p:nvPicPr>
        <p:blipFill rotWithShape="1">
          <a:blip r:embed="rId8">
            <a:alphaModFix/>
          </a:blip>
          <a:srcRect/>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160421" y="365125"/>
            <a:ext cx="12031579" cy="1325563"/>
          </a:xfrm>
          <a:prstGeom prst="rect">
            <a:avLst/>
          </a:prstGeom>
          <a:noFill/>
          <a:ln>
            <a:noFill/>
          </a:ln>
        </p:spPr>
        <p:txBody>
          <a:bodyPr spcFirstLastPara="1" wrap="square" lIns="91425" tIns="45700" rIns="91425" bIns="45700" anchor="ctr" anchorCtr="0">
            <a:normAutofit/>
          </a:bodyPr>
          <a:lstStyle/>
          <a:p>
            <a:pPr>
              <a:buClr>
                <a:srgbClr val="704EA6"/>
              </a:buClr>
              <a:buSzPts val="4400"/>
            </a:pPr>
            <a:r>
              <a:rPr lang="en-US" b="1" dirty="0">
                <a:solidFill>
                  <a:srgbClr val="704EA6"/>
                </a:solidFill>
                <a:latin typeface="Calibri"/>
                <a:ea typeface="Calibri"/>
                <a:cs typeface="Calibri"/>
                <a:sym typeface="Calibri"/>
              </a:rPr>
              <a:t>Theme - </a:t>
            </a:r>
            <a:r>
              <a:rPr lang="en-IN" b="1" dirty="0"/>
              <a:t>Smart Guided Troubleshooting Engine</a:t>
            </a:r>
            <a:br>
              <a:rPr lang="en-IN" dirty="0"/>
            </a:br>
            <a:endParaRPr dirty="0"/>
          </a:p>
        </p:txBody>
      </p:sp>
      <p:sp>
        <p:nvSpPr>
          <p:cNvPr id="102" name="Google Shape;102;p2"/>
          <p:cNvSpPr txBox="1">
            <a:spLocks noGrp="1"/>
          </p:cNvSpPr>
          <p:nvPr>
            <p:ph type="body" idx="1"/>
          </p:nvPr>
        </p:nvSpPr>
        <p:spPr>
          <a:xfrm>
            <a:off x="160421" y="1171074"/>
            <a:ext cx="11871157" cy="5321801"/>
          </a:xfrm>
          <a:prstGeom prst="rect">
            <a:avLst/>
          </a:prstGeom>
          <a:noFill/>
          <a:ln>
            <a:noFill/>
          </a:ln>
        </p:spPr>
        <p:txBody>
          <a:bodyPr spcFirstLastPara="1" wrap="square" lIns="91425" tIns="45700" rIns="91425" bIns="45700" anchor="t" anchorCtr="0">
            <a:normAutofit fontScale="77500" lnSpcReduction="20000"/>
          </a:bodyPr>
          <a:lstStyle/>
          <a:p>
            <a:pPr marL="114300" indent="0">
              <a:buNone/>
            </a:pPr>
            <a:r>
              <a:rPr lang="en-IN" b="1" dirty="0"/>
              <a:t>Problem</a:t>
            </a:r>
          </a:p>
          <a:p>
            <a:r>
              <a:rPr lang="en-IN" dirty="0"/>
              <a:t>Customers describe device problems in highly variable language:</a:t>
            </a:r>
          </a:p>
          <a:p>
            <a:pPr lvl="0"/>
            <a:r>
              <a:rPr lang="en-IN" dirty="0"/>
              <a:t>Formal descriptions </a:t>
            </a:r>
          </a:p>
          <a:p>
            <a:pPr lvl="0"/>
            <a:r>
              <a:rPr lang="en-IN" dirty="0"/>
              <a:t>Short keyword queries </a:t>
            </a:r>
          </a:p>
          <a:p>
            <a:pPr lvl="0"/>
            <a:r>
              <a:rPr lang="en-IN" dirty="0"/>
              <a:t>Casual/frustrated language </a:t>
            </a:r>
          </a:p>
          <a:p>
            <a:pPr lvl="0"/>
            <a:r>
              <a:rPr lang="en-IN" dirty="0"/>
              <a:t>Typos and misspellings </a:t>
            </a:r>
          </a:p>
          <a:p>
            <a:pPr lvl="0"/>
            <a:r>
              <a:rPr lang="en-IN" dirty="0"/>
              <a:t>Different device models </a:t>
            </a:r>
          </a:p>
          <a:p>
            <a:pPr lvl="0"/>
            <a:r>
              <a:rPr lang="en-IN" dirty="0"/>
              <a:t>Different ways of describing the same symptom </a:t>
            </a:r>
          </a:p>
          <a:p>
            <a:pPr marL="114300" indent="0">
              <a:buNone/>
            </a:pPr>
            <a:r>
              <a:rPr lang="en-IN" b="1" dirty="0"/>
              <a:t>Example</a:t>
            </a:r>
          </a:p>
          <a:p>
            <a:r>
              <a:rPr lang="en-IN" b="1" dirty="0"/>
              <a:t>“The mobile phone screen is cracked and flashes intermittently.”</a:t>
            </a:r>
            <a:endParaRPr lang="en-IN" dirty="0"/>
          </a:p>
          <a:p>
            <a:pPr marL="114300" indent="0">
              <a:buNone/>
            </a:pPr>
            <a:r>
              <a:rPr lang="en-IN" dirty="0"/>
              <a:t>The system needs to understand that this refers to a </a:t>
            </a:r>
            <a:r>
              <a:rPr lang="en-IN" b="1" dirty="0"/>
              <a:t>screen/display issue</a:t>
            </a:r>
            <a:r>
              <a:rPr lang="en-IN" dirty="0"/>
              <a:t>, identify the relevant troubleshooting procedure, and return structured actions.</a:t>
            </a:r>
          </a:p>
          <a:p>
            <a:pPr marL="114300" indent="0">
              <a:buNone/>
            </a:pPr>
            <a:r>
              <a:rPr lang="en-IN" b="1" dirty="0"/>
              <a:t>Core challenge</a:t>
            </a:r>
          </a:p>
          <a:p>
            <a:r>
              <a:rPr lang="en-IN" b="1" dirty="0"/>
              <a:t>Raw complaint → Understand intent → Find relevant solution → Return actionable steps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Existing Solutions &amp; Gaps</a:t>
            </a:r>
            <a:endParaRPr dirty="0"/>
          </a:p>
        </p:txBody>
      </p:sp>
      <p:sp>
        <p:nvSpPr>
          <p:cNvPr id="10" name="TextBox 9">
            <a:extLst>
              <a:ext uri="{FF2B5EF4-FFF2-40B4-BE49-F238E27FC236}">
                <a16:creationId xmlns:a16="http://schemas.microsoft.com/office/drawing/2014/main" id="{784F444A-E86F-0FEE-426F-944010E000FB}"/>
              </a:ext>
            </a:extLst>
          </p:cNvPr>
          <p:cNvSpPr txBox="1"/>
          <p:nvPr/>
        </p:nvSpPr>
        <p:spPr>
          <a:xfrm>
            <a:off x="336884" y="5692347"/>
            <a:ext cx="11097125" cy="307777"/>
          </a:xfrm>
          <a:prstGeom prst="rect">
            <a:avLst/>
          </a:prstGeom>
          <a:noFill/>
        </p:spPr>
        <p:txBody>
          <a:bodyPr wrap="square">
            <a:spAutoFit/>
          </a:bodyPr>
          <a:lstStyle/>
          <a:p>
            <a:r>
              <a:rPr lang="en-IN" b="1" dirty="0"/>
              <a:t>Takeaway:</a:t>
            </a:r>
            <a:r>
              <a:rPr lang="en-IN" dirty="0"/>
              <a:t> A fast, grounded, verifiable system needs programmatic guardrails around the LLM, not just a better prompt.</a:t>
            </a:r>
          </a:p>
        </p:txBody>
      </p:sp>
      <p:graphicFrame>
        <p:nvGraphicFramePr>
          <p:cNvPr id="2" name="Table 1">
            <a:extLst>
              <a:ext uri="{FF2B5EF4-FFF2-40B4-BE49-F238E27FC236}">
                <a16:creationId xmlns:a16="http://schemas.microsoft.com/office/drawing/2014/main" id="{88050753-0C39-8744-F2A1-F460650AAF34}"/>
              </a:ext>
            </a:extLst>
          </p:cNvPr>
          <p:cNvGraphicFramePr>
            <a:graphicFrameLocks noGrp="1"/>
          </p:cNvGraphicFramePr>
          <p:nvPr>
            <p:extLst>
              <p:ext uri="{D42A27DB-BD31-4B8C-83A1-F6EECF244321}">
                <p14:modId xmlns:p14="http://schemas.microsoft.com/office/powerpoint/2010/main" val="188668828"/>
              </p:ext>
            </p:extLst>
          </p:nvPr>
        </p:nvGraphicFramePr>
        <p:xfrm>
          <a:off x="336884" y="1573132"/>
          <a:ext cx="10888580" cy="3711735"/>
        </p:xfrm>
        <a:graphic>
          <a:graphicData uri="http://schemas.openxmlformats.org/drawingml/2006/table">
            <a:tbl>
              <a:tblPr>
                <a:tableStyleId>{5C22544A-7EE6-4342-B048-85BDC9FD1C3A}</a:tableStyleId>
              </a:tblPr>
              <a:tblGrid>
                <a:gridCol w="5444290">
                  <a:extLst>
                    <a:ext uri="{9D8B030D-6E8A-4147-A177-3AD203B41FA5}">
                      <a16:colId xmlns:a16="http://schemas.microsoft.com/office/drawing/2014/main" val="2027856925"/>
                    </a:ext>
                  </a:extLst>
                </a:gridCol>
                <a:gridCol w="5444290">
                  <a:extLst>
                    <a:ext uri="{9D8B030D-6E8A-4147-A177-3AD203B41FA5}">
                      <a16:colId xmlns:a16="http://schemas.microsoft.com/office/drawing/2014/main" val="3147701499"/>
                    </a:ext>
                  </a:extLst>
                </a:gridCol>
              </a:tblGrid>
              <a:tr h="458239">
                <a:tc>
                  <a:txBody>
                    <a:bodyPr/>
                    <a:lstStyle/>
                    <a:p>
                      <a:pPr marR="0" algn="l" rtl="0">
                        <a:lnSpc>
                          <a:spcPct val="100000"/>
                        </a:lnSpc>
                        <a:spcBef>
                          <a:spcPts val="0"/>
                        </a:spcBef>
                        <a:spcAft>
                          <a:spcPts val="0"/>
                        </a:spcAft>
                        <a:buClr>
                          <a:srgbClr val="000000"/>
                        </a:buClr>
                        <a:buFont typeface="Arial"/>
                        <a:buNone/>
                      </a:pPr>
                      <a:r>
                        <a:rPr lang="en-IN" sz="1600" b="1" i="0" u="none" strike="noStrike" cap="none" spc="0" dirty="0">
                          <a:solidFill>
                            <a:schemeClr val="dk1"/>
                          </a:solidFill>
                          <a:latin typeface="+mn-lt"/>
                          <a:ea typeface="+mn-ea"/>
                          <a:cs typeface="+mn-cs"/>
                          <a:sym typeface="Arial"/>
                        </a:rPr>
                        <a:t>EXISTING APPROACH</a:t>
                      </a:r>
                    </a:p>
                  </a:txBody>
                  <a:tcPr anchor="ctr"/>
                </a:tc>
                <a:tc>
                  <a:txBody>
                    <a:bodyPr/>
                    <a:lstStyle/>
                    <a:p>
                      <a:pPr marR="0" algn="l" rtl="0">
                        <a:lnSpc>
                          <a:spcPct val="100000"/>
                        </a:lnSpc>
                        <a:spcBef>
                          <a:spcPts val="0"/>
                        </a:spcBef>
                        <a:spcAft>
                          <a:spcPts val="0"/>
                        </a:spcAft>
                        <a:buClr>
                          <a:srgbClr val="000000"/>
                        </a:buClr>
                        <a:buFont typeface="Arial"/>
                        <a:buNone/>
                      </a:pPr>
                      <a:r>
                        <a:rPr lang="en-IN" sz="1600" b="1" i="0" u="none" strike="noStrike" cap="none" spc="0" dirty="0">
                          <a:solidFill>
                            <a:schemeClr val="dk1"/>
                          </a:solidFill>
                          <a:latin typeface="+mn-lt"/>
                          <a:ea typeface="+mn-ea"/>
                          <a:cs typeface="+mn-cs"/>
                          <a:sym typeface="Arial"/>
                        </a:rPr>
                        <a:t>Gap</a:t>
                      </a:r>
                    </a:p>
                  </a:txBody>
                  <a:tcPr anchor="ctr"/>
                </a:tc>
                <a:extLst>
                  <a:ext uri="{0D108BD9-81ED-4DB2-BD59-A6C34878D82A}">
                    <a16:rowId xmlns:a16="http://schemas.microsoft.com/office/drawing/2014/main" val="3085043462"/>
                  </a:ext>
                </a:extLst>
              </a:tr>
              <a:tr h="779006">
                <a:tc>
                  <a:txBody>
                    <a:bodyPr/>
                    <a:lstStyle/>
                    <a:p>
                      <a:pPr>
                        <a:buNone/>
                      </a:pPr>
                      <a:r>
                        <a:rPr lang="en-IN"/>
                        <a:t>Human agent reading SIIS/KB</a:t>
                      </a:r>
                    </a:p>
                  </a:txBody>
                  <a:tcPr anchor="ctr"/>
                </a:tc>
                <a:tc>
                  <a:txBody>
                    <a:bodyPr/>
                    <a:lstStyle/>
                    <a:p>
                      <a:pPr>
                        <a:buNone/>
                      </a:pPr>
                      <a:r>
                        <a:rPr lang="en-IN"/>
                        <a:t>About 15 min per case, inconsistent, doesn't scale to millions of interactions</a:t>
                      </a:r>
                    </a:p>
                  </a:txBody>
                  <a:tcPr anchor="ctr"/>
                </a:tc>
                <a:extLst>
                  <a:ext uri="{0D108BD9-81ED-4DB2-BD59-A6C34878D82A}">
                    <a16:rowId xmlns:a16="http://schemas.microsoft.com/office/drawing/2014/main" val="3400070785"/>
                  </a:ext>
                </a:extLst>
              </a:tr>
              <a:tr h="779006">
                <a:tc>
                  <a:txBody>
                    <a:bodyPr/>
                    <a:lstStyle/>
                    <a:p>
                      <a:pPr>
                        <a:buNone/>
                      </a:pPr>
                      <a:r>
                        <a:rPr lang="en-IN" dirty="0"/>
                        <a:t>Static FAQ / keyword search</a:t>
                      </a:r>
                    </a:p>
                  </a:txBody>
                  <a:tcPr anchor="ctr"/>
                </a:tc>
                <a:tc>
                  <a:txBody>
                    <a:bodyPr/>
                    <a:lstStyle/>
                    <a:p>
                      <a:pPr>
                        <a:buNone/>
                      </a:pPr>
                      <a:r>
                        <a:rPr lang="en-IN"/>
                        <a:t>Breaks on colloquial or typo-heavy phrasing; returns articles, not plans</a:t>
                      </a:r>
                    </a:p>
                  </a:txBody>
                  <a:tcPr anchor="ctr"/>
                </a:tc>
                <a:extLst>
                  <a:ext uri="{0D108BD9-81ED-4DB2-BD59-A6C34878D82A}">
                    <a16:rowId xmlns:a16="http://schemas.microsoft.com/office/drawing/2014/main" val="3858957792"/>
                  </a:ext>
                </a:extLst>
              </a:tr>
              <a:tr h="779006">
                <a:tc>
                  <a:txBody>
                    <a:bodyPr/>
                    <a:lstStyle/>
                    <a:p>
                      <a:pPr>
                        <a:buNone/>
                      </a:pPr>
                      <a:r>
                        <a:rPr lang="en-IN" dirty="0"/>
                        <a:t>Plain LLM chatbot</a:t>
                      </a:r>
                    </a:p>
                  </a:txBody>
                  <a:tcPr anchor="ctr"/>
                </a:tc>
                <a:tc>
                  <a:txBody>
                    <a:bodyPr/>
                    <a:lstStyle/>
                    <a:p>
                      <a:pPr>
                        <a:buNone/>
                      </a:pPr>
                      <a:r>
                        <a:rPr lang="en-IN"/>
                        <a:t>Hallucinates steps, injects generic help URLs, alters deeplinks, slow and costly on every call</a:t>
                      </a:r>
                    </a:p>
                  </a:txBody>
                  <a:tcPr anchor="ctr"/>
                </a:tc>
                <a:extLst>
                  <a:ext uri="{0D108BD9-81ED-4DB2-BD59-A6C34878D82A}">
                    <a16:rowId xmlns:a16="http://schemas.microsoft.com/office/drawing/2014/main" val="1099866753"/>
                  </a:ext>
                </a:extLst>
              </a:tr>
              <a:tr h="458239">
                <a:tc>
                  <a:txBody>
                    <a:bodyPr/>
                    <a:lstStyle/>
                    <a:p>
                      <a:pPr>
                        <a:buNone/>
                      </a:pPr>
                      <a:r>
                        <a:rPr lang="en-IN"/>
                        <a:t>Exact-string caching</a:t>
                      </a:r>
                    </a:p>
                  </a:txBody>
                  <a:tcPr anchor="ctr"/>
                </a:tc>
                <a:tc>
                  <a:txBody>
                    <a:bodyPr/>
                    <a:lstStyle/>
                    <a:p>
                      <a:pPr>
                        <a:buNone/>
                      </a:pPr>
                      <a:r>
                        <a:rPr lang="en-IN"/>
                        <a:t>Paraphrases miss the cache, so latency and cost stay high</a:t>
                      </a:r>
                    </a:p>
                  </a:txBody>
                  <a:tcPr anchor="ctr"/>
                </a:tc>
                <a:extLst>
                  <a:ext uri="{0D108BD9-81ED-4DB2-BD59-A6C34878D82A}">
                    <a16:rowId xmlns:a16="http://schemas.microsoft.com/office/drawing/2014/main" val="1871783016"/>
                  </a:ext>
                </a:extLst>
              </a:tr>
              <a:tr h="458239">
                <a:tc>
                  <a:txBody>
                    <a:bodyPr/>
                    <a:lstStyle/>
                    <a:p>
                      <a:pPr>
                        <a:buNone/>
                      </a:pPr>
                      <a:r>
                        <a:rPr lang="en-IN" dirty="0"/>
                        <a:t>Prompt-only constraints</a:t>
                      </a:r>
                    </a:p>
                  </a:txBody>
                  <a:tcPr anchor="ctr"/>
                </a:tc>
                <a:tc>
                  <a:txBody>
                    <a:bodyPr/>
                    <a:lstStyle/>
                    <a:p>
                      <a:pPr>
                        <a:buNone/>
                      </a:pPr>
                      <a:r>
                        <a:rPr lang="en-IN" dirty="0"/>
                        <a:t>Word limits and format rules aren't reliably followed</a:t>
                      </a:r>
                    </a:p>
                  </a:txBody>
                  <a:tcPr anchor="ctr"/>
                </a:tc>
                <a:extLst>
                  <a:ext uri="{0D108BD9-81ED-4DB2-BD59-A6C34878D82A}">
                    <a16:rowId xmlns:a16="http://schemas.microsoft.com/office/drawing/2014/main" val="6387866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909917" y="26651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Our Solutions &amp; Architecture Diagram</a:t>
            </a:r>
            <a:endParaRPr/>
          </a:p>
        </p:txBody>
      </p:sp>
      <p:sp>
        <p:nvSpPr>
          <p:cNvPr id="114" name="Google Shape;114;p4"/>
          <p:cNvSpPr txBox="1">
            <a:spLocks noGrp="1"/>
          </p:cNvSpPr>
          <p:nvPr>
            <p:ph type="body" idx="1"/>
          </p:nvPr>
        </p:nvSpPr>
        <p:spPr>
          <a:xfrm>
            <a:off x="591267" y="1471046"/>
            <a:ext cx="10515600" cy="4351338"/>
          </a:xfrm>
          <a:prstGeom prst="rect">
            <a:avLst/>
          </a:prstGeom>
          <a:noFill/>
          <a:ln>
            <a:noFill/>
          </a:ln>
        </p:spPr>
        <p:txBody>
          <a:bodyPr spcFirstLastPara="1" wrap="square" lIns="91425" tIns="45700" rIns="91425" bIns="45700" anchor="t" anchorCtr="0">
            <a:noAutofit/>
          </a:bodyPr>
          <a:lstStyle/>
          <a:p>
            <a:pPr marL="114300" indent="0">
              <a:buNone/>
            </a:pPr>
            <a:r>
              <a:rPr lang="en-IN" sz="1600" b="1" dirty="0"/>
              <a:t>Pipeline</a:t>
            </a:r>
            <a:r>
              <a:rPr lang="en-IN" sz="1600" dirty="0"/>
              <a:t> (POST /v1/troubleshoot):</a:t>
            </a:r>
          </a:p>
          <a:p>
            <a:pPr marL="114300" indent="0">
              <a:buNone/>
            </a:pPr>
            <a:endParaRPr lang="en-IN" sz="1600" dirty="0"/>
          </a:p>
          <a:p>
            <a:pPr marL="628650" lvl="0" indent="-514350">
              <a:buFont typeface="+mj-lt"/>
              <a:buAutoNum type="arabicPeriod"/>
            </a:pPr>
            <a:r>
              <a:rPr lang="en-IN" sz="1600" b="1" dirty="0"/>
              <a:t>Stage 0, Query Enrichment:</a:t>
            </a:r>
            <a:r>
              <a:rPr lang="en-IN" sz="1600" dirty="0"/>
              <a:t> extracts the device with regex, then matches a 35-category symptom taxonomy. This normalizes the text into a canonical query and produces 8–10 paraphrases (formal, casual, keyword, frustrated, typo). It also produces a confidence score. An optional guarded LLM fallback runs only when nothing matches.</a:t>
            </a:r>
          </a:p>
          <a:p>
            <a:pPr marL="628650" lvl="0" indent="-514350">
              <a:buFont typeface="+mj-lt"/>
              <a:buAutoNum type="arabicPeriod"/>
            </a:pPr>
            <a:r>
              <a:rPr lang="en-IN" sz="1600" b="1" dirty="0"/>
              <a:t>Semantic Cache check (Stage 3):</a:t>
            </a:r>
            <a:r>
              <a:rPr lang="en-IN" sz="1600" dirty="0"/>
              <a:t> a hit returns the validated plan with no LLM call. A low-confidence query skips the cache entirely.</a:t>
            </a:r>
          </a:p>
          <a:p>
            <a:pPr marL="628650" lvl="0" indent="-514350">
              <a:buFont typeface="+mj-lt"/>
              <a:buAutoNum type="arabicPeriod"/>
            </a:pPr>
            <a:r>
              <a:rPr lang="en-IN" sz="1600" b="1" dirty="0"/>
              <a:t>Relevance gate:</a:t>
            </a:r>
            <a:r>
              <a:rPr lang="en-IN" sz="1600" dirty="0"/>
              <a:t> if the SIIS text is off-topic, return contexts: [] with fallback: "</a:t>
            </a:r>
            <a:r>
              <a:rPr lang="en-IN" sz="1600" dirty="0" err="1"/>
              <a:t>no_match</a:t>
            </a:r>
            <a:r>
              <a:rPr lang="en-IN" sz="1600" dirty="0"/>
              <a:t>". If there is no SIIS text, return </a:t>
            </a:r>
            <a:r>
              <a:rPr lang="en-IN" sz="1600" dirty="0" err="1"/>
              <a:t>no_siis_context</a:t>
            </a:r>
            <a:r>
              <a:rPr lang="en-IN" sz="1600" dirty="0"/>
              <a:t>.</a:t>
            </a:r>
          </a:p>
          <a:p>
            <a:pPr marL="628650" lvl="0" indent="-514350">
              <a:buFont typeface="+mj-lt"/>
              <a:buAutoNum type="arabicPeriod"/>
            </a:pPr>
            <a:r>
              <a:rPr lang="en-IN" sz="1600" b="1" dirty="0"/>
              <a:t>Stage 1, Structure Extraction:</a:t>
            </a:r>
            <a:r>
              <a:rPr lang="en-IN" sz="1600" dirty="0"/>
              <a:t> the LLM parses SIIS text into Goal → Actions → </a:t>
            </a:r>
            <a:r>
              <a:rPr lang="en-IN" sz="1600" dirty="0" err="1"/>
              <a:t>StepGroups</a:t>
            </a:r>
            <a:r>
              <a:rPr lang="en-IN" sz="1600" dirty="0"/>
              <a:t>. Validators check goal, title and description syntax and word counts. Each step must be supported by the source text, and a fixable issue is repaired rather than rejected.</a:t>
            </a:r>
          </a:p>
          <a:p>
            <a:pPr marL="628650" lvl="0" indent="-514350">
              <a:buFont typeface="+mj-lt"/>
              <a:buAutoNum type="arabicPeriod"/>
            </a:pPr>
            <a:r>
              <a:rPr lang="en-IN" sz="1600" b="1" dirty="0"/>
              <a:t>Stage 2, Deeplink Mapping:</a:t>
            </a:r>
            <a:r>
              <a:rPr lang="en-IN" sz="1600" dirty="0"/>
              <a:t> char n-gram TF-IDF retrieval over the </a:t>
            </a:r>
            <a:r>
              <a:rPr lang="en-IN" sz="1600" dirty="0" err="1"/>
              <a:t>catalog's</a:t>
            </a:r>
            <a:r>
              <a:rPr lang="en-IN" sz="1600" dirty="0"/>
              <a:t> descriptions, never the URI strings. A rule guard assigns critical or manual categories, sorts critical actions last, and falls back to bixby://dummy_positive when similarity is low.</a:t>
            </a:r>
          </a:p>
          <a:p>
            <a:pPr marL="628650" lvl="0" indent="-514350">
              <a:buFont typeface="+mj-lt"/>
              <a:buAutoNum type="arabicPeriod"/>
            </a:pPr>
            <a:r>
              <a:rPr lang="en-IN" sz="1600" b="1" dirty="0"/>
              <a:t>Scrubber:</a:t>
            </a:r>
            <a:r>
              <a:rPr lang="en-IN" sz="1600" dirty="0"/>
              <a:t> strips URLs and verifies </a:t>
            </a:r>
            <a:r>
              <a:rPr lang="en-IN" sz="1600" dirty="0" err="1"/>
              <a:t>deeplinks</a:t>
            </a:r>
            <a:r>
              <a:rPr lang="en-IN" sz="1600" dirty="0"/>
              <a:t> against the </a:t>
            </a:r>
            <a:r>
              <a:rPr lang="en-IN" sz="1600" dirty="0" err="1"/>
              <a:t>catalog</a:t>
            </a:r>
            <a:r>
              <a:rPr lang="en-IN" sz="1600" dirty="0"/>
              <a:t>, then the plan is cached and returned as pure JSON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23675F-04FD-B326-F5B5-66A910349D7B}"/>
              </a:ext>
            </a:extLst>
          </p:cNvPr>
          <p:cNvPicPr>
            <a:picLocks noChangeAspect="1"/>
          </p:cNvPicPr>
          <p:nvPr/>
        </p:nvPicPr>
        <p:blipFill>
          <a:blip r:embed="rId2"/>
          <a:stretch>
            <a:fillRect/>
          </a:stretch>
        </p:blipFill>
        <p:spPr>
          <a:xfrm>
            <a:off x="2374232" y="0"/>
            <a:ext cx="7316563" cy="6858000"/>
          </a:xfrm>
          <a:prstGeom prst="rect">
            <a:avLst/>
          </a:prstGeom>
        </p:spPr>
      </p:pic>
    </p:spTree>
    <p:extLst>
      <p:ext uri="{BB962C8B-B14F-4D97-AF65-F5344CB8AC3E}">
        <p14:creationId xmlns:p14="http://schemas.microsoft.com/office/powerpoint/2010/main" val="266005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348343" y="539296"/>
            <a:ext cx="11288486" cy="1325563"/>
          </a:xfrm>
          <a:prstGeom prst="rect">
            <a:avLst/>
          </a:prstGeom>
          <a:noFill/>
          <a:ln>
            <a:noFill/>
          </a:ln>
        </p:spPr>
        <p:txBody>
          <a:bodyPr spcFirstLastPara="1" wrap="square" lIns="91425" tIns="45700" rIns="91425" bIns="45700" anchor="ctr" anchorCtr="0">
            <a:normAutofit/>
          </a:bodyPr>
          <a:lstStyle/>
          <a:p>
            <a:pPr lvl="0">
              <a:buClr>
                <a:srgbClr val="704EA6"/>
              </a:buClr>
              <a:buSzPts val="4400"/>
            </a:pPr>
            <a:r>
              <a:rPr lang="en-US" b="1" dirty="0">
                <a:solidFill>
                  <a:srgbClr val="704EA6"/>
                </a:solidFill>
                <a:latin typeface="Calibri"/>
                <a:ea typeface="Calibri"/>
                <a:cs typeface="Calibri"/>
                <a:sym typeface="Calibri"/>
              </a:rPr>
              <a:t>Demo &amp; Product Walkthrough</a:t>
            </a:r>
            <a:r>
              <a:rPr lang="en-US" b="1" dirty="0">
                <a:solidFill>
                  <a:srgbClr val="704EA6"/>
                </a:solidFill>
              </a:rPr>
              <a:t> - </a:t>
            </a:r>
            <a:r>
              <a:rPr lang="en-US" sz="2200" b="1" dirty="0">
                <a:solidFill>
                  <a:srgbClr val="704EA6"/>
                </a:solidFill>
                <a:hlinkClick r:id="rId3"/>
              </a:rPr>
              <a:t>https://drive.google.com/file/d/1_ooCOpjRS2G8lOtwKyPkBSGQNYcRL5gH/view?usp=sharing</a:t>
            </a:r>
            <a:r>
              <a:rPr lang="en-US" sz="2200" b="1" dirty="0">
                <a:solidFill>
                  <a:srgbClr val="704EA6"/>
                </a:solidFill>
              </a:rPr>
              <a:t> </a:t>
            </a:r>
            <a:endParaRPr sz="2200" dirty="0"/>
          </a:p>
        </p:txBody>
      </p:sp>
      <p:sp>
        <p:nvSpPr>
          <p:cNvPr id="120" name="Google Shape;120;p5"/>
          <p:cNvSpPr txBox="1">
            <a:spLocks noGrp="1"/>
          </p:cNvSpPr>
          <p:nvPr>
            <p:ph type="body" idx="1"/>
          </p:nvPr>
        </p:nvSpPr>
        <p:spPr>
          <a:xfrm>
            <a:off x="247508" y="2147434"/>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IN" dirty="0"/>
              <a:t>Suggested 5-minute demo flow:</a:t>
            </a:r>
          </a:p>
          <a:p>
            <a:pPr marL="114300" indent="0">
              <a:buNone/>
            </a:pPr>
            <a:endParaRPr lang="en-IN" dirty="0"/>
          </a:p>
          <a:p>
            <a:pPr marL="628650" lvl="0" indent="-514350">
              <a:buFont typeface="+mj-lt"/>
              <a:buAutoNum type="arabicPeriod"/>
            </a:pPr>
            <a:r>
              <a:rPr lang="en-IN" dirty="0"/>
              <a:t>GET /health returns {"</a:t>
            </a:r>
            <a:r>
              <a:rPr lang="en-IN" dirty="0" err="1"/>
              <a:t>status":"ok</a:t>
            </a:r>
            <a:r>
              <a:rPr lang="en-IN" dirty="0"/>
              <a:t>"}.</a:t>
            </a:r>
          </a:p>
          <a:p>
            <a:pPr marL="628650" lvl="0" indent="-514350">
              <a:buFont typeface="+mj-lt"/>
              <a:buAutoNum type="arabicPeriod"/>
            </a:pPr>
            <a:r>
              <a:rPr lang="en-IN" b="1" dirty="0"/>
              <a:t>Cold request:</a:t>
            </a:r>
            <a:r>
              <a:rPr lang="en-IN" dirty="0"/>
              <a:t> "phone swipe gestures wrong direction after app install" with a SIIS text. Show the goal, the ordered actions, and the </a:t>
            </a:r>
            <a:r>
              <a:rPr lang="en-IN" dirty="0" err="1"/>
              <a:t>deeplink</a:t>
            </a:r>
            <a:r>
              <a:rPr lang="en-IN" dirty="0"/>
              <a:t> on the auto action. Show meta: </a:t>
            </a:r>
            <a:r>
              <a:rPr lang="en-IN" dirty="0" err="1"/>
              <a:t>cache_hit:false</a:t>
            </a:r>
            <a:r>
              <a:rPr lang="en-IN" dirty="0"/>
              <a:t>, latency, model, cost.</a:t>
            </a:r>
          </a:p>
          <a:p>
            <a:pPr marL="628650" lvl="0" indent="-514350">
              <a:buFont typeface="+mj-lt"/>
              <a:buAutoNum type="arabicPeriod"/>
            </a:pPr>
            <a:r>
              <a:rPr lang="en-IN" b="1" dirty="0"/>
              <a:t>Cache hit:</a:t>
            </a:r>
            <a:r>
              <a:rPr lang="en-IN" dirty="0"/>
              <a:t> send a paraphrase with no SIIS text, such as "my S22 display is completely black". Show </a:t>
            </a:r>
            <a:r>
              <a:rPr lang="en-IN" dirty="0" err="1"/>
              <a:t>cache_hit:true</a:t>
            </a:r>
            <a:r>
              <a:rPr lang="en-IN" dirty="0"/>
              <a:t> at about 2 </a:t>
            </a:r>
            <a:r>
              <a:rPr lang="en-IN" dirty="0" err="1"/>
              <a:t>ms</a:t>
            </a:r>
            <a:r>
              <a:rPr lang="en-IN" dirty="0"/>
              <a:t>.</a:t>
            </a:r>
          </a:p>
          <a:p>
            <a:pPr marL="628650" lvl="0" indent="-514350">
              <a:buFont typeface="+mj-lt"/>
              <a:buAutoNum type="arabicPeriod"/>
            </a:pPr>
            <a:r>
              <a:rPr lang="en-IN" b="1" dirty="0"/>
              <a:t>Guardrails:</a:t>
            </a:r>
            <a:r>
              <a:rPr lang="en-IN" dirty="0"/>
              <a:t> send an off-topic SIIS article to show </a:t>
            </a:r>
            <a:r>
              <a:rPr lang="en-IN" dirty="0" err="1"/>
              <a:t>no_match</a:t>
            </a:r>
            <a:r>
              <a:rPr lang="en-IN" dirty="0"/>
              <a:t>, and a bare complaint to show </a:t>
            </a:r>
            <a:r>
              <a:rPr lang="en-IN" dirty="0" err="1"/>
              <a:t>no_siis_context</a:t>
            </a:r>
            <a:r>
              <a:rPr lang="en-IN" dirty="0"/>
              <a:t>.</a:t>
            </a:r>
          </a:p>
          <a:p>
            <a:pPr marL="628650" lvl="0" indent="-514350">
              <a:buFont typeface="+mj-lt"/>
              <a:buAutoNum type="arabicPeriod"/>
            </a:pPr>
            <a:r>
              <a:rPr lang="en-IN" dirty="0"/>
              <a:t>Show validate_results.py passing on </a:t>
            </a:r>
            <a:r>
              <a:rPr lang="en-IN" dirty="0" err="1"/>
              <a:t>results.jsonl</a:t>
            </a:r>
            <a:r>
              <a:rPr lang="en-IN"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82ECC0-07BC-433D-362E-A3C7AEFD94B1}"/>
              </a:ext>
            </a:extLst>
          </p:cNvPr>
          <p:cNvPicPr>
            <a:picLocks noChangeAspect="1"/>
          </p:cNvPicPr>
          <p:nvPr/>
        </p:nvPicPr>
        <p:blipFill>
          <a:blip r:embed="rId2"/>
          <a:stretch>
            <a:fillRect/>
          </a:stretch>
        </p:blipFill>
        <p:spPr>
          <a:xfrm>
            <a:off x="1077687" y="136487"/>
            <a:ext cx="9765458" cy="6324660"/>
          </a:xfrm>
          <a:prstGeom prst="rect">
            <a:avLst/>
          </a:prstGeom>
        </p:spPr>
      </p:pic>
    </p:spTree>
    <p:extLst>
      <p:ext uri="{BB962C8B-B14F-4D97-AF65-F5344CB8AC3E}">
        <p14:creationId xmlns:p14="http://schemas.microsoft.com/office/powerpoint/2010/main" val="814562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505544-E94D-73A2-4682-CE60C1B67859}"/>
              </a:ext>
            </a:extLst>
          </p:cNvPr>
          <p:cNvPicPr>
            <a:picLocks noChangeAspect="1"/>
          </p:cNvPicPr>
          <p:nvPr/>
        </p:nvPicPr>
        <p:blipFill>
          <a:blip r:embed="rId2"/>
          <a:stretch>
            <a:fillRect/>
          </a:stretch>
        </p:blipFill>
        <p:spPr>
          <a:xfrm>
            <a:off x="261081" y="1616528"/>
            <a:ext cx="11669837" cy="3624943"/>
          </a:xfrm>
          <a:prstGeom prst="rect">
            <a:avLst/>
          </a:prstGeom>
        </p:spPr>
      </p:pic>
    </p:spTree>
    <p:extLst>
      <p:ext uri="{BB962C8B-B14F-4D97-AF65-F5344CB8AC3E}">
        <p14:creationId xmlns:p14="http://schemas.microsoft.com/office/powerpoint/2010/main" val="1214640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AE5199-E856-6C0C-F612-FB149455DC10}"/>
              </a:ext>
            </a:extLst>
          </p:cNvPr>
          <p:cNvPicPr>
            <a:picLocks noChangeAspect="1"/>
          </p:cNvPicPr>
          <p:nvPr/>
        </p:nvPicPr>
        <p:blipFill>
          <a:blip r:embed="rId2"/>
          <a:stretch>
            <a:fillRect/>
          </a:stretch>
        </p:blipFill>
        <p:spPr>
          <a:xfrm>
            <a:off x="1146434" y="103640"/>
            <a:ext cx="9899132" cy="6411234"/>
          </a:xfrm>
          <a:prstGeom prst="rect">
            <a:avLst/>
          </a:prstGeom>
        </p:spPr>
      </p:pic>
    </p:spTree>
    <p:extLst>
      <p:ext uri="{BB962C8B-B14F-4D97-AF65-F5344CB8AC3E}">
        <p14:creationId xmlns:p14="http://schemas.microsoft.com/office/powerpoint/2010/main" val="3217949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Tools and tech stack used</a:t>
            </a:r>
            <a:endParaRPr b="1" dirty="0">
              <a:solidFill>
                <a:srgbClr val="704EA6"/>
              </a:solidFill>
            </a:endParaRPr>
          </a:p>
        </p:txBody>
      </p:sp>
      <p:sp>
        <p:nvSpPr>
          <p:cNvPr id="126" name="Google Shape;126;p6"/>
          <p:cNvSpPr txBox="1">
            <a:spLocks noGrp="1"/>
          </p:cNvSpPr>
          <p:nvPr>
            <p:ph type="body" idx="1"/>
          </p:nvPr>
        </p:nvSpPr>
        <p:spPr>
          <a:xfrm>
            <a:off x="272716" y="1858252"/>
            <a:ext cx="11646568" cy="4351338"/>
          </a:xfrm>
          <a:prstGeom prst="rect">
            <a:avLst/>
          </a:prstGeom>
          <a:noFill/>
          <a:ln>
            <a:noFill/>
          </a:ln>
        </p:spPr>
        <p:txBody>
          <a:bodyPr spcFirstLastPara="1" wrap="square" lIns="91425" tIns="45700" rIns="91425" bIns="45700" anchor="t" anchorCtr="0">
            <a:normAutofit fontScale="85000" lnSpcReduction="20000"/>
          </a:bodyPr>
          <a:lstStyle/>
          <a:p>
            <a:pPr lvl="0"/>
            <a:r>
              <a:rPr lang="en-IN" b="1" dirty="0"/>
              <a:t>Language and API:</a:t>
            </a:r>
            <a:r>
              <a:rPr lang="en-IN" dirty="0"/>
              <a:t> Python 3.11, </a:t>
            </a:r>
            <a:r>
              <a:rPr lang="en-IN" dirty="0" err="1"/>
              <a:t>FastAPI</a:t>
            </a:r>
            <a:r>
              <a:rPr lang="en-IN" dirty="0"/>
              <a:t>, </a:t>
            </a:r>
            <a:r>
              <a:rPr lang="en-IN" dirty="0" err="1"/>
              <a:t>Uvicorn</a:t>
            </a:r>
            <a:r>
              <a:rPr lang="en-IN" dirty="0"/>
              <a:t>, </a:t>
            </a:r>
            <a:r>
              <a:rPr lang="en-IN" dirty="0" err="1"/>
              <a:t>Pydantic</a:t>
            </a:r>
            <a:r>
              <a:rPr lang="en-IN" dirty="0"/>
              <a:t> (the official schema.py contract)</a:t>
            </a:r>
          </a:p>
          <a:p>
            <a:pPr lvl="0"/>
            <a:r>
              <a:rPr lang="en-IN" b="1" dirty="0"/>
              <a:t>LLM:</a:t>
            </a:r>
            <a:r>
              <a:rPr lang="en-IN" dirty="0"/>
              <a:t> Gemini (gemini-3.5-flash-lite) via a pluggable client. OpenAI, Anthropic and an offline mock are also supported. temperature=0, response </a:t>
            </a:r>
            <a:r>
              <a:rPr lang="en-IN" dirty="0" err="1"/>
              <a:t>memoization</a:t>
            </a:r>
            <a:r>
              <a:rPr lang="en-IN" dirty="0"/>
              <a:t>, 30 s timeout guard, per-request token cost tracking.</a:t>
            </a:r>
          </a:p>
          <a:p>
            <a:pPr lvl="0"/>
            <a:r>
              <a:rPr lang="en-IN" b="1" dirty="0"/>
              <a:t>Retrieval and embeddings:</a:t>
            </a:r>
            <a:r>
              <a:rPr lang="en-IN" dirty="0"/>
              <a:t> scikit-learn char n-gram TF-IDF (3–5, </a:t>
            </a:r>
            <a:r>
              <a:rPr lang="en-IN" dirty="0" err="1"/>
              <a:t>char_wb</a:t>
            </a:r>
            <a:r>
              <a:rPr lang="en-IN" dirty="0"/>
              <a:t>) with cosine similarity over sparse matrices (SciPy and NumPy). This was chosen because </a:t>
            </a:r>
            <a:r>
              <a:rPr lang="en-IN" dirty="0" err="1"/>
              <a:t>HuggingFace</a:t>
            </a:r>
            <a:r>
              <a:rPr lang="en-IN" dirty="0"/>
              <a:t> was blocked on our network. Fully offline, typo-tolerant, and the Embedder protocol lets a dense model drop in later.</a:t>
            </a:r>
          </a:p>
          <a:p>
            <a:pPr lvl="0"/>
            <a:r>
              <a:rPr lang="en-IN" b="1" dirty="0"/>
              <a:t>Cache:</a:t>
            </a:r>
            <a:r>
              <a:rPr lang="en-IN" dirty="0"/>
              <a:t> in-memory semantic cache, device-gated, thread-safe, pre-warmed from </a:t>
            </a:r>
            <a:r>
              <a:rPr lang="en-IN" dirty="0" err="1"/>
              <a:t>results.jsonl</a:t>
            </a:r>
            <a:endParaRPr lang="en-IN" dirty="0"/>
          </a:p>
          <a:p>
            <a:pPr lvl="0"/>
            <a:r>
              <a:rPr lang="en-IN" b="1" dirty="0"/>
              <a:t>Quality:</a:t>
            </a:r>
            <a:r>
              <a:rPr lang="en-IN" dirty="0"/>
              <a:t> </a:t>
            </a:r>
            <a:r>
              <a:rPr lang="en-IN" dirty="0" err="1"/>
              <a:t>pytest</a:t>
            </a:r>
            <a:r>
              <a:rPr lang="en-IN" dirty="0"/>
              <a:t> (119 test functions), validation scripts, benchmark scripts</a:t>
            </a:r>
          </a:p>
          <a:p>
            <a:pPr lvl="0"/>
            <a:r>
              <a:rPr lang="en-IN" b="1" dirty="0"/>
              <a:t>Deploy:</a:t>
            </a:r>
            <a:r>
              <a:rPr lang="en-IN" dirty="0"/>
              <a:t> Docker (python:3.11-slim, </a:t>
            </a:r>
            <a:r>
              <a:rPr lang="en-IN" dirty="0" err="1"/>
              <a:t>healthcheck</a:t>
            </a:r>
            <a:r>
              <a:rPr lang="en-IN" dirty="0"/>
              <a:t>, vectorizer built at image build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32" name="Google Shape;132;p7"/>
          <p:cNvSpPr txBox="1">
            <a:spLocks noGrp="1"/>
          </p:cNvSpPr>
          <p:nvPr>
            <p:ph type="body" idx="1"/>
          </p:nvPr>
        </p:nvSpPr>
        <p:spPr>
          <a:xfrm>
            <a:off x="469232" y="1690688"/>
            <a:ext cx="10515600" cy="4351338"/>
          </a:xfrm>
          <a:prstGeom prst="rect">
            <a:avLst/>
          </a:prstGeom>
          <a:noFill/>
          <a:ln>
            <a:noFill/>
          </a:ln>
        </p:spPr>
        <p:txBody>
          <a:bodyPr spcFirstLastPara="1" wrap="square" lIns="91425" tIns="45700" rIns="91425" bIns="45700" anchor="t" anchorCtr="0">
            <a:normAutofit fontScale="85000" lnSpcReduction="20000"/>
          </a:bodyPr>
          <a:lstStyle/>
          <a:p>
            <a:pPr lvl="0"/>
            <a:r>
              <a:rPr lang="en-IN" b="1" dirty="0"/>
              <a:t>Support time:</a:t>
            </a:r>
            <a:r>
              <a:rPr lang="en-IN" dirty="0"/>
              <a:t> about 15 min of manual triage becomes seconds, and about 2 </a:t>
            </a:r>
            <a:r>
              <a:rPr lang="en-IN" dirty="0" err="1"/>
              <a:t>ms</a:t>
            </a:r>
            <a:r>
              <a:rPr lang="en-IN" dirty="0"/>
              <a:t> on repeated issues.</a:t>
            </a:r>
          </a:p>
          <a:p>
            <a:pPr lvl="0"/>
            <a:r>
              <a:rPr lang="en-IN" b="1" dirty="0"/>
              <a:t>Cost:</a:t>
            </a:r>
            <a:r>
              <a:rPr lang="en-IN" dirty="0"/>
              <a:t> a cache hit makes no LLM call and costs $0.00. Cold queries have tracked per-request cost.</a:t>
            </a:r>
          </a:p>
          <a:p>
            <a:pPr lvl="0"/>
            <a:r>
              <a:rPr lang="en-IN" b="1" dirty="0"/>
              <a:t>Customer experience:</a:t>
            </a:r>
            <a:r>
              <a:rPr lang="en-IN" dirty="0"/>
              <a:t> a tappable </a:t>
            </a:r>
            <a:r>
              <a:rPr lang="en-IN" dirty="0" err="1"/>
              <a:t>deeplink</a:t>
            </a:r>
            <a:r>
              <a:rPr lang="en-IN" dirty="0"/>
              <a:t> replaces "go to Settings &gt; Display &gt; Navigation bar".</a:t>
            </a:r>
          </a:p>
          <a:p>
            <a:pPr lvl="0"/>
            <a:r>
              <a:rPr lang="en-IN" b="1" dirty="0"/>
              <a:t>Safety and trust:</a:t>
            </a:r>
            <a:r>
              <a:rPr lang="en-IN" dirty="0"/>
              <a:t> no fabricated steps or links, and destructive actions always come last.</a:t>
            </a:r>
          </a:p>
          <a:p>
            <a:pPr lvl="0"/>
            <a:r>
              <a:rPr lang="en-IN" b="1" dirty="0"/>
              <a:t>Use case walkthrough:</a:t>
            </a:r>
            <a:r>
              <a:rPr lang="en-IN" dirty="0"/>
              <a:t> a user reports "swipe gestures go the wrong way after installing an app". The engine returns "Follow these steps to perform this Swipe Navigation Troubleshooting", with an auto action linked to the navigation bar settings.</a:t>
            </a:r>
          </a:p>
          <a:p>
            <a:pPr lvl="0"/>
            <a:r>
              <a:rPr lang="en-IN" b="1" dirty="0"/>
              <a:t>Where it plugs in:</a:t>
            </a:r>
            <a:r>
              <a:rPr lang="en-IN" dirty="0"/>
              <a:t> Bixby, the Samsung Members app and agent-assist tools.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138" name="Google Shape;13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47500" lnSpcReduction="20000"/>
          </a:bodyPr>
          <a:lstStyle/>
          <a:p>
            <a:r>
              <a:rPr lang="en-IN" b="1" dirty="0"/>
              <a:t>What Makes Our Solution Different?</a:t>
            </a:r>
          </a:p>
          <a:p>
            <a:r>
              <a:rPr lang="en-IN" b="1" dirty="0"/>
              <a:t>1. Multi-register understanding</a:t>
            </a:r>
          </a:p>
          <a:p>
            <a:r>
              <a:rPr lang="en-IN" dirty="0"/>
              <a:t>Formal + casual + keyword + frustrated + typo.</a:t>
            </a:r>
          </a:p>
          <a:p>
            <a:r>
              <a:rPr lang="en-IN" b="1" dirty="0"/>
              <a:t>2. 32-category symptom intelligence</a:t>
            </a:r>
          </a:p>
          <a:p>
            <a:r>
              <a:rPr lang="en-IN" dirty="0"/>
              <a:t>The taxonomy extends beyond only screen problems.</a:t>
            </a:r>
          </a:p>
          <a:p>
            <a:r>
              <a:rPr lang="en-IN" b="1" dirty="0"/>
              <a:t>3. Deterministic + Generative AI</a:t>
            </a:r>
          </a:p>
          <a:p>
            <a:r>
              <a:rPr lang="en-IN" dirty="0"/>
              <a:t>Rules handle known patterns while LLMs provide controlled fallback and enrichment.</a:t>
            </a:r>
          </a:p>
          <a:p>
            <a:r>
              <a:rPr lang="en-IN" b="1" dirty="0"/>
              <a:t>4. Semantic </a:t>
            </a:r>
            <a:r>
              <a:rPr lang="en-IN" b="1" dirty="0" err="1"/>
              <a:t>deeplink</a:t>
            </a:r>
            <a:r>
              <a:rPr lang="en-IN" b="1" dirty="0"/>
              <a:t> mapping</a:t>
            </a:r>
          </a:p>
          <a:p>
            <a:r>
              <a:rPr lang="en-IN" dirty="0"/>
              <a:t>Connects natural-language actions to device operations.</a:t>
            </a:r>
          </a:p>
          <a:p>
            <a:r>
              <a:rPr lang="en-IN" b="1" dirty="0"/>
              <a:t>5. Device-aware semantic cache</a:t>
            </a:r>
          </a:p>
          <a:p>
            <a:r>
              <a:rPr lang="en-IN" dirty="0"/>
              <a:t>Similar queries are matched while maintaining device isolation.</a:t>
            </a:r>
          </a:p>
          <a:p>
            <a:r>
              <a:rPr lang="en-IN" b="1" dirty="0"/>
              <a:t>6. Grounded response generation</a:t>
            </a:r>
          </a:p>
          <a:p>
            <a:r>
              <a:rPr lang="en-IN" dirty="0"/>
              <a:t>Troubleshooting actions are derived from the supplied troubleshooting knowledge.</a:t>
            </a:r>
          </a:p>
          <a:p>
            <a:r>
              <a:rPr lang="en-IN" b="1" dirty="0"/>
              <a:t>7. Zero-URL-leak protection</a:t>
            </a:r>
          </a:p>
          <a:p>
            <a:r>
              <a:rPr lang="en-IN" dirty="0"/>
              <a:t>Prevents unwanted URLs from leaking into the final response.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What’s next</a:t>
            </a:r>
            <a:endParaRPr sz="4400" b="1">
              <a:solidFill>
                <a:srgbClr val="704EA6"/>
              </a:solidFill>
            </a:endParaRPr>
          </a:p>
        </p:txBody>
      </p:sp>
      <p:sp>
        <p:nvSpPr>
          <p:cNvPr id="144" name="Google Shape;144;p9"/>
          <p:cNvSpPr txBox="1">
            <a:spLocks noGrp="1"/>
          </p:cNvSpPr>
          <p:nvPr>
            <p:ph type="body" idx="1"/>
          </p:nvPr>
        </p:nvSpPr>
        <p:spPr>
          <a:xfrm>
            <a:off x="324853" y="1690688"/>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114300" lvl="0" indent="0">
              <a:buNone/>
            </a:pPr>
            <a:endParaRPr lang="en-IN" dirty="0"/>
          </a:p>
          <a:p>
            <a:pPr lvl="0"/>
            <a:r>
              <a:rPr lang="en-IN" dirty="0"/>
              <a:t>Replace the keyword taxonomy with a learned intent classifier.</a:t>
            </a:r>
          </a:p>
          <a:p>
            <a:pPr lvl="0"/>
            <a:r>
              <a:rPr lang="en-IN" dirty="0"/>
              <a:t>Handle multi-intent complaints, and clarify when a complaint is ambiguous.</a:t>
            </a:r>
          </a:p>
          <a:p>
            <a:pPr lvl="0"/>
            <a:r>
              <a:rPr lang="en-IN" dirty="0"/>
              <a:t>Build a graded ground-truth set to score step accuracy (0–3) and </a:t>
            </a:r>
            <a:r>
              <a:rPr lang="en-IN" dirty="0" err="1"/>
              <a:t>deeplink</a:t>
            </a:r>
            <a:r>
              <a:rPr lang="en-IN" dirty="0"/>
              <a:t> relevance (0–2).</a:t>
            </a:r>
          </a:p>
          <a:p>
            <a:pPr lvl="0"/>
            <a:r>
              <a:rPr lang="en-IN" dirty="0"/>
              <a:t>Scale the cache with bucketed or ANN lookup, since brute force reaches about 105 </a:t>
            </a:r>
            <a:r>
              <a:rPr lang="en-IN" dirty="0" err="1"/>
              <a:t>ms</a:t>
            </a:r>
            <a:r>
              <a:rPr lang="en-IN" dirty="0"/>
              <a:t> at 5,000 entries.</a:t>
            </a:r>
          </a:p>
          <a:p>
            <a:pPr lvl="0"/>
            <a:r>
              <a:rPr lang="en-IN" dirty="0"/>
              <a:t>Persist the cache in Redis or a vector store, and add a feedback loop from "did this fix it?" signals.</a:t>
            </a:r>
          </a:p>
          <a:p>
            <a:pPr lvl="0"/>
            <a:r>
              <a:rPr lang="en-IN" dirty="0"/>
              <a:t>Multilingual support.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Brownie points slide( differentiation)</a:t>
            </a:r>
            <a:endParaRPr sz="4400" b="1">
              <a:solidFill>
                <a:srgbClr val="704EA6"/>
              </a:solidFill>
            </a:endParaRPr>
          </a:p>
        </p:txBody>
      </p:sp>
      <p:sp>
        <p:nvSpPr>
          <p:cNvPr id="150" name="Google Shape;150;p10"/>
          <p:cNvSpPr txBox="1">
            <a:spLocks noGrp="1"/>
          </p:cNvSpPr>
          <p:nvPr>
            <p:ph type="body" idx="1"/>
          </p:nvPr>
        </p:nvSpPr>
        <p:spPr>
          <a:xfrm>
            <a:off x="838200" y="1690688"/>
            <a:ext cx="10515600" cy="4351338"/>
          </a:xfrm>
          <a:prstGeom prst="rect">
            <a:avLst/>
          </a:prstGeom>
          <a:noFill/>
          <a:ln>
            <a:noFill/>
          </a:ln>
        </p:spPr>
        <p:txBody>
          <a:bodyPr spcFirstLastPara="1" wrap="square" lIns="91425" tIns="45700" rIns="91425" bIns="45700" anchor="t" anchorCtr="0">
            <a:normAutofit fontScale="77500" lnSpcReduction="20000"/>
          </a:bodyPr>
          <a:lstStyle/>
          <a:p>
            <a:pPr lvl="0"/>
            <a:r>
              <a:rPr lang="en-IN" dirty="0"/>
              <a:t>Built for the brief's pitfalls: semantic cache keys, one Action = one Screen, regex URL scrubbing, matching on descriptions, and programmatic word-count enforcement.</a:t>
            </a:r>
          </a:p>
          <a:p>
            <a:pPr lvl="0"/>
            <a:r>
              <a:rPr lang="en-IN" dirty="0"/>
              <a:t>Runs fully offline in mock mode, with no API key needed for the cache and the deterministic stages.</a:t>
            </a:r>
          </a:p>
          <a:p>
            <a:pPr lvl="0"/>
            <a:r>
              <a:rPr lang="en-IN" dirty="0"/>
              <a:t>Honest engineering: bugs found and fixed are documented in the README, for example the false classification on non-screen complaints and the cache serving empty or wrong-article answers.</a:t>
            </a:r>
          </a:p>
          <a:p>
            <a:pPr lvl="0"/>
            <a:r>
              <a:rPr lang="en-IN" dirty="0"/>
              <a:t>Concurrency-safe cache, and a global error handler that never leaks a stack trace.</a:t>
            </a:r>
          </a:p>
          <a:p>
            <a:pPr lvl="0"/>
            <a:r>
              <a:rPr lang="en-IN" dirty="0"/>
              <a:t>Extras beyond the contract: /v1/enrich, /v1/cache/stats, and an enrichment debug block with confidence scores.</a:t>
            </a:r>
          </a:p>
          <a:p>
            <a:pPr lvl="0"/>
            <a:r>
              <a:rPr lang="en-IN" dirty="0"/>
              <a:t>One command to reproduce: generate_results.py, validate_results.py, eval_paraphrase_hits.py.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156" name="Google Shape;156;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77800" lvl="0" indent="-177800" algn="l" rtl="0">
              <a:lnSpc>
                <a:spcPct val="90000"/>
              </a:lnSpc>
              <a:spcBef>
                <a:spcPts val="0"/>
              </a:spcBef>
              <a:spcAft>
                <a:spcPts val="0"/>
              </a:spcAft>
              <a:buClr>
                <a:srgbClr val="63637E"/>
              </a:buClr>
              <a:buSzPts val="2800"/>
              <a:buChar char="•"/>
            </a:pPr>
            <a:r>
              <a:rPr lang="en-US" sz="2800" dirty="0">
                <a:solidFill>
                  <a:srgbClr val="63637E"/>
                </a:solidFill>
                <a:latin typeface="Calibri"/>
                <a:ea typeface="Calibri"/>
                <a:cs typeface="Calibri"/>
                <a:sym typeface="Calibri"/>
              </a:rPr>
              <a:t>Working prototype code — public or shared GitHub repo (Y/N) -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README with reproducible setup instructions (Y/N) -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Demo video, max 5 minutes (YouTube or Drive link) -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Presentation file (PPT or PDF) (Y/N) - Y</a:t>
            </a:r>
            <a:endParaRPr sz="2800" dirty="0"/>
          </a:p>
          <a:p>
            <a:pPr marL="0" lvl="0" indent="0" algn="l" rtl="0">
              <a:lnSpc>
                <a:spcPct val="90000"/>
              </a:lnSpc>
              <a:spcBef>
                <a:spcPts val="1500"/>
              </a:spcBef>
              <a:spcAft>
                <a:spcPts val="0"/>
              </a:spcAft>
              <a:buClr>
                <a:schemeClr val="dk1"/>
              </a:buClr>
              <a:buSzPts val="2800"/>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05903" y="2863941"/>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dirty="0">
                <a:solidFill>
                  <a:srgbClr val="14142B"/>
                </a:solidFill>
                <a:latin typeface="Arial"/>
                <a:ea typeface="Arial"/>
                <a:cs typeface="Arial"/>
                <a:sym typeface="Arial"/>
              </a:rPr>
              <a:t>Thank you</a:t>
            </a: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
        <p:nvSpPr>
          <p:cNvPr id="2" name="Google Shape;156;p11">
            <a:extLst>
              <a:ext uri="{FF2B5EF4-FFF2-40B4-BE49-F238E27FC236}">
                <a16:creationId xmlns:a16="http://schemas.microsoft.com/office/drawing/2014/main" id="{EB44D09B-EE18-2074-BA3E-DF895A4D0B83}"/>
              </a:ext>
            </a:extLst>
          </p:cNvPr>
          <p:cNvSpPr txBox="1">
            <a:spLocks/>
          </p:cNvSpPr>
          <p:nvPr/>
        </p:nvSpPr>
        <p:spPr>
          <a:xfrm>
            <a:off x="1005903" y="4082739"/>
            <a:ext cx="10929423" cy="14650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nSpc>
                <a:spcPct val="90000"/>
              </a:lnSpc>
              <a:buClr>
                <a:srgbClr val="63637E"/>
              </a:buClr>
              <a:buSzPts val="2800"/>
            </a:pPr>
            <a:r>
              <a:rPr lang="en-US" sz="1800" dirty="0">
                <a:solidFill>
                  <a:srgbClr val="63637E"/>
                </a:solidFill>
                <a:latin typeface="Calibri"/>
                <a:ea typeface="Calibri"/>
                <a:cs typeface="Calibri"/>
                <a:sym typeface="Calibri"/>
                <a:hlinkClick r:id="rId3"/>
              </a:rPr>
              <a:t>pa6535@srmist.edu.in</a:t>
            </a:r>
            <a:endParaRPr lang="en-US" sz="1800" dirty="0">
              <a:solidFill>
                <a:srgbClr val="63637E"/>
              </a:solidFill>
              <a:latin typeface="Calibri"/>
              <a:ea typeface="Calibri"/>
              <a:cs typeface="Calibri"/>
              <a:sym typeface="Calibri"/>
            </a:endParaRPr>
          </a:p>
          <a:p>
            <a:pPr>
              <a:lnSpc>
                <a:spcPct val="90000"/>
              </a:lnSpc>
              <a:buClr>
                <a:srgbClr val="63637E"/>
              </a:buClr>
              <a:buSzPts val="2800"/>
            </a:pPr>
            <a:endParaRPr lang="en-US" sz="1800" dirty="0">
              <a:solidFill>
                <a:srgbClr val="63637E"/>
              </a:solidFill>
              <a:latin typeface="Calibri"/>
              <a:ea typeface="Calibri"/>
              <a:cs typeface="Calibri"/>
              <a:sym typeface="Calibri"/>
            </a:endParaRPr>
          </a:p>
          <a:p>
            <a:pPr>
              <a:lnSpc>
                <a:spcPct val="90000"/>
              </a:lnSpc>
              <a:buClr>
                <a:srgbClr val="63637E"/>
              </a:buClr>
              <a:buSzPts val="2800"/>
            </a:pPr>
            <a:r>
              <a:rPr lang="en-US" sz="1800" dirty="0">
                <a:solidFill>
                  <a:srgbClr val="63637E"/>
                </a:solidFill>
                <a:latin typeface="Calibri"/>
                <a:ea typeface="Calibri"/>
                <a:cs typeface="Calibri"/>
                <a:sym typeface="Calibri"/>
                <a:hlinkClick r:id="rId4"/>
              </a:rPr>
              <a:t>https://docs.google.com/forms/d/e/1FAIpQLSd_WWF7mnEVUWV3eC-Ptc2PKeJ5Mt_422EknsfShKo_l1y3Og/viewform?edit2=2_ABaOnuenWDHxGAclXChZSHLoFlyEr9ohm8_h64DtXlPx3xwWv59VGoTGP7rUkO6eeZiLAV4</a:t>
            </a:r>
            <a:r>
              <a:rPr lang="en-US" sz="1800" dirty="0">
                <a:solidFill>
                  <a:srgbClr val="63637E"/>
                </a:solidFill>
                <a:latin typeface="Calibri"/>
                <a:ea typeface="Calibri"/>
                <a:cs typeface="Calibri"/>
                <a:sym typeface="Calibri"/>
              </a:rPr>
              <a:t> </a:t>
            </a:r>
          </a:p>
          <a:p>
            <a:pPr>
              <a:lnSpc>
                <a:spcPct val="90000"/>
              </a:lnSpc>
              <a:buClr>
                <a:srgbClr val="63637E"/>
              </a:buClr>
              <a:buSzPts val="2800"/>
            </a:pPr>
            <a:endParaRPr lang="en-US" sz="1800" dirty="0">
              <a:solidFill>
                <a:srgbClr val="63637E"/>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1565</Words>
  <Application>Microsoft Office PowerPoint</Application>
  <PresentationFormat>Widescreen</PresentationFormat>
  <Paragraphs>117</Paragraphs>
  <Slides>16</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Theme - Smart Guided Troubleshooting Engine </vt:lpstr>
      <vt:lpstr>Existing Solutions &amp; Gaps</vt:lpstr>
      <vt:lpstr>Our Solutions &amp; Architecture Diagram</vt:lpstr>
      <vt:lpstr>PowerPoint Presentation</vt:lpstr>
      <vt:lpstr>Demo &amp; Product Walkthrough - https://drive.google.com/file/d/1_ooCOpjRS2G8lOtwKyPkBSGQNYcRL5gH/view?usp=sharing </vt:lpstr>
      <vt:lpstr>PowerPoint Presentation</vt:lpstr>
      <vt:lpstr>PowerPoint Presentation</vt:lpstr>
      <vt:lpstr>PowerPoint Presentation</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PRISHA AGARWAL</cp:lastModifiedBy>
  <cp:revision>27</cp:revision>
  <dcterms:created xsi:type="dcterms:W3CDTF">2026-09-07T12:01:01Z</dcterms:created>
  <dcterms:modified xsi:type="dcterms:W3CDTF">2026-09-30T18:27:58Z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